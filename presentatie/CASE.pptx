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161" d="100"/>
          <a:sy n="161" d="100"/>
        </p:scale>
        <p:origin x="232" y="1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9D183D-B261-AA3F-6CDC-9C006AE9ECEF}"/>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nl-BE"/>
          </a:p>
        </p:txBody>
      </p:sp>
      <p:sp>
        <p:nvSpPr>
          <p:cNvPr id="3" name="Ondertitel 2">
            <a:extLst>
              <a:ext uri="{FF2B5EF4-FFF2-40B4-BE49-F238E27FC236}">
                <a16:creationId xmlns:a16="http://schemas.microsoft.com/office/drawing/2014/main" id="{E70DFCDA-81D8-6122-FBB8-7CA4AFD2E5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nl-BE"/>
          </a:p>
        </p:txBody>
      </p:sp>
      <p:sp>
        <p:nvSpPr>
          <p:cNvPr id="4" name="Tijdelijke aanduiding voor datum 3">
            <a:extLst>
              <a:ext uri="{FF2B5EF4-FFF2-40B4-BE49-F238E27FC236}">
                <a16:creationId xmlns:a16="http://schemas.microsoft.com/office/drawing/2014/main" id="{12704288-F77E-54CC-A5B6-3AB508662F06}"/>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5" name="Tijdelijke aanduiding voor voettekst 4">
            <a:extLst>
              <a:ext uri="{FF2B5EF4-FFF2-40B4-BE49-F238E27FC236}">
                <a16:creationId xmlns:a16="http://schemas.microsoft.com/office/drawing/2014/main" id="{D3F29792-541F-3E31-E189-A9B8093DCE7A}"/>
              </a:ext>
            </a:extLst>
          </p:cNvPr>
          <p:cNvSpPr>
            <a:spLocks noGrp="1"/>
          </p:cNvSpPr>
          <p:nvPr>
            <p:ph type="ftr" sz="quarter" idx="11"/>
          </p:nvPr>
        </p:nvSpPr>
        <p:spPr/>
        <p:txBody>
          <a:bodyPr/>
          <a:lstStyle/>
          <a:p>
            <a:endParaRPr lang="nl-BE"/>
          </a:p>
        </p:txBody>
      </p:sp>
      <p:sp>
        <p:nvSpPr>
          <p:cNvPr id="6" name="Tijdelijke aanduiding voor dianummer 5">
            <a:extLst>
              <a:ext uri="{FF2B5EF4-FFF2-40B4-BE49-F238E27FC236}">
                <a16:creationId xmlns:a16="http://schemas.microsoft.com/office/drawing/2014/main" id="{F943BA7C-1EB5-CB88-270F-9AD8DC0F51A0}"/>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27520692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C551B0-C2B2-9872-0852-628BA33837D3}"/>
              </a:ext>
            </a:extLst>
          </p:cNvPr>
          <p:cNvSpPr>
            <a:spLocks noGrp="1"/>
          </p:cNvSpPr>
          <p:nvPr>
            <p:ph type="title"/>
          </p:nvPr>
        </p:nvSpPr>
        <p:spPr/>
        <p:txBody>
          <a:bodyPr/>
          <a:lstStyle/>
          <a:p>
            <a:r>
              <a:rPr lang="nl-NL"/>
              <a:t>Klik om stijl te bewerken</a:t>
            </a:r>
            <a:endParaRPr lang="nl-BE"/>
          </a:p>
        </p:txBody>
      </p:sp>
      <p:sp>
        <p:nvSpPr>
          <p:cNvPr id="3" name="Tijdelijke aanduiding voor inhoud 2">
            <a:extLst>
              <a:ext uri="{FF2B5EF4-FFF2-40B4-BE49-F238E27FC236}">
                <a16:creationId xmlns:a16="http://schemas.microsoft.com/office/drawing/2014/main" id="{DC67F4F0-DC75-53C5-A734-7D6C163D2728}"/>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a:extLst>
              <a:ext uri="{FF2B5EF4-FFF2-40B4-BE49-F238E27FC236}">
                <a16:creationId xmlns:a16="http://schemas.microsoft.com/office/drawing/2014/main" id="{DD1B3E0B-88B3-CA45-9900-008CF3A798B1}"/>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5" name="Tijdelijke aanduiding voor voettekst 4">
            <a:extLst>
              <a:ext uri="{FF2B5EF4-FFF2-40B4-BE49-F238E27FC236}">
                <a16:creationId xmlns:a16="http://schemas.microsoft.com/office/drawing/2014/main" id="{F52C03B5-9013-D1FB-A865-D83D6F6C7F81}"/>
              </a:ext>
            </a:extLst>
          </p:cNvPr>
          <p:cNvSpPr>
            <a:spLocks noGrp="1"/>
          </p:cNvSpPr>
          <p:nvPr>
            <p:ph type="ftr" sz="quarter" idx="11"/>
          </p:nvPr>
        </p:nvSpPr>
        <p:spPr/>
        <p:txBody>
          <a:bodyPr/>
          <a:lstStyle/>
          <a:p>
            <a:endParaRPr lang="nl-BE"/>
          </a:p>
        </p:txBody>
      </p:sp>
      <p:sp>
        <p:nvSpPr>
          <p:cNvPr id="6" name="Tijdelijke aanduiding voor dianummer 5">
            <a:extLst>
              <a:ext uri="{FF2B5EF4-FFF2-40B4-BE49-F238E27FC236}">
                <a16:creationId xmlns:a16="http://schemas.microsoft.com/office/drawing/2014/main" id="{4F4D3F9F-84D2-D807-0622-29586EA5ABA4}"/>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2067646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93DE1B-C197-A78D-B8AB-45ADC81D664C}"/>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nl-BE"/>
          </a:p>
        </p:txBody>
      </p:sp>
      <p:sp>
        <p:nvSpPr>
          <p:cNvPr id="3" name="Tijdelijke aanduiding voor tekst 2">
            <a:extLst>
              <a:ext uri="{FF2B5EF4-FFF2-40B4-BE49-F238E27FC236}">
                <a16:creationId xmlns:a16="http://schemas.microsoft.com/office/drawing/2014/main" id="{D62A12C9-5E53-C906-EFCC-D187D5C8F46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DECCBEDF-A5AE-6B33-FB64-2654ACA7BDDA}"/>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5" name="Tijdelijke aanduiding voor voettekst 4">
            <a:extLst>
              <a:ext uri="{FF2B5EF4-FFF2-40B4-BE49-F238E27FC236}">
                <a16:creationId xmlns:a16="http://schemas.microsoft.com/office/drawing/2014/main" id="{C664259F-91C4-88D5-F2F6-197A173972EE}"/>
              </a:ext>
            </a:extLst>
          </p:cNvPr>
          <p:cNvSpPr>
            <a:spLocks noGrp="1"/>
          </p:cNvSpPr>
          <p:nvPr>
            <p:ph type="ftr" sz="quarter" idx="11"/>
          </p:nvPr>
        </p:nvSpPr>
        <p:spPr/>
        <p:txBody>
          <a:bodyPr/>
          <a:lstStyle/>
          <a:p>
            <a:endParaRPr lang="nl-BE"/>
          </a:p>
        </p:txBody>
      </p:sp>
      <p:sp>
        <p:nvSpPr>
          <p:cNvPr id="6" name="Tijdelijke aanduiding voor dianummer 5">
            <a:extLst>
              <a:ext uri="{FF2B5EF4-FFF2-40B4-BE49-F238E27FC236}">
                <a16:creationId xmlns:a16="http://schemas.microsoft.com/office/drawing/2014/main" id="{D6388A6B-A87F-7102-9590-66A995102A7D}"/>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17740597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D3F699-3CDB-ACAC-1F31-1182C17CF020}"/>
              </a:ext>
            </a:extLst>
          </p:cNvPr>
          <p:cNvSpPr>
            <a:spLocks noGrp="1"/>
          </p:cNvSpPr>
          <p:nvPr>
            <p:ph type="title"/>
          </p:nvPr>
        </p:nvSpPr>
        <p:spPr/>
        <p:txBody>
          <a:bodyPr/>
          <a:lstStyle/>
          <a:p>
            <a:r>
              <a:rPr lang="nl-NL"/>
              <a:t>Klik om stijl te bewerken</a:t>
            </a:r>
            <a:endParaRPr lang="nl-BE"/>
          </a:p>
        </p:txBody>
      </p:sp>
      <p:sp>
        <p:nvSpPr>
          <p:cNvPr id="3" name="Tijdelijke aanduiding voor inhoud 2">
            <a:extLst>
              <a:ext uri="{FF2B5EF4-FFF2-40B4-BE49-F238E27FC236}">
                <a16:creationId xmlns:a16="http://schemas.microsoft.com/office/drawing/2014/main" id="{DC90D3AD-268E-C799-7A4F-C9E30AD4976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inhoud 3">
            <a:extLst>
              <a:ext uri="{FF2B5EF4-FFF2-40B4-BE49-F238E27FC236}">
                <a16:creationId xmlns:a16="http://schemas.microsoft.com/office/drawing/2014/main" id="{14153022-0EE1-79A4-68C9-C505488D5DAA}"/>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5" name="Tijdelijke aanduiding voor datum 4">
            <a:extLst>
              <a:ext uri="{FF2B5EF4-FFF2-40B4-BE49-F238E27FC236}">
                <a16:creationId xmlns:a16="http://schemas.microsoft.com/office/drawing/2014/main" id="{396DDFBE-F4DC-C7CE-E582-6D9F06051BE8}"/>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6" name="Tijdelijke aanduiding voor voettekst 5">
            <a:extLst>
              <a:ext uri="{FF2B5EF4-FFF2-40B4-BE49-F238E27FC236}">
                <a16:creationId xmlns:a16="http://schemas.microsoft.com/office/drawing/2014/main" id="{2D4435F9-AB11-FAE5-7143-932B30678C92}"/>
              </a:ext>
            </a:extLst>
          </p:cNvPr>
          <p:cNvSpPr>
            <a:spLocks noGrp="1"/>
          </p:cNvSpPr>
          <p:nvPr>
            <p:ph type="ftr" sz="quarter" idx="11"/>
          </p:nvPr>
        </p:nvSpPr>
        <p:spPr/>
        <p:txBody>
          <a:bodyPr/>
          <a:lstStyle/>
          <a:p>
            <a:endParaRPr lang="nl-BE"/>
          </a:p>
        </p:txBody>
      </p:sp>
      <p:sp>
        <p:nvSpPr>
          <p:cNvPr id="7" name="Tijdelijke aanduiding voor dianummer 6">
            <a:extLst>
              <a:ext uri="{FF2B5EF4-FFF2-40B4-BE49-F238E27FC236}">
                <a16:creationId xmlns:a16="http://schemas.microsoft.com/office/drawing/2014/main" id="{C90A2D01-E59F-16DB-B464-A79415F66DE3}"/>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758518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7C7DE1B-BFF3-AB93-A191-DC8ECDC9711B}"/>
              </a:ext>
            </a:extLst>
          </p:cNvPr>
          <p:cNvSpPr>
            <a:spLocks noGrp="1"/>
          </p:cNvSpPr>
          <p:nvPr>
            <p:ph type="title"/>
          </p:nvPr>
        </p:nvSpPr>
        <p:spPr>
          <a:xfrm>
            <a:off x="839788" y="365125"/>
            <a:ext cx="10515600" cy="1325563"/>
          </a:xfrm>
        </p:spPr>
        <p:txBody>
          <a:bodyPr/>
          <a:lstStyle/>
          <a:p>
            <a:r>
              <a:rPr lang="nl-NL"/>
              <a:t>Klik om stijl te bewerken</a:t>
            </a:r>
            <a:endParaRPr lang="nl-BE"/>
          </a:p>
        </p:txBody>
      </p:sp>
      <p:sp>
        <p:nvSpPr>
          <p:cNvPr id="3" name="Tijdelijke aanduiding voor tekst 2">
            <a:extLst>
              <a:ext uri="{FF2B5EF4-FFF2-40B4-BE49-F238E27FC236}">
                <a16:creationId xmlns:a16="http://schemas.microsoft.com/office/drawing/2014/main" id="{11E39A1A-E01E-7B0E-9851-9651598D08C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88490F30-5411-3D3A-9527-2690715891DF}"/>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5" name="Tijdelijke aanduiding voor tekst 4">
            <a:extLst>
              <a:ext uri="{FF2B5EF4-FFF2-40B4-BE49-F238E27FC236}">
                <a16:creationId xmlns:a16="http://schemas.microsoft.com/office/drawing/2014/main" id="{241BC6FF-DCBA-AAF9-FACC-821DC7E873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59C51689-AEFF-6163-55D2-FE7C01DF15A1}"/>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7" name="Tijdelijke aanduiding voor datum 6">
            <a:extLst>
              <a:ext uri="{FF2B5EF4-FFF2-40B4-BE49-F238E27FC236}">
                <a16:creationId xmlns:a16="http://schemas.microsoft.com/office/drawing/2014/main" id="{4033978C-752E-DE50-366B-D6C6E4927569}"/>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8" name="Tijdelijke aanduiding voor voettekst 7">
            <a:extLst>
              <a:ext uri="{FF2B5EF4-FFF2-40B4-BE49-F238E27FC236}">
                <a16:creationId xmlns:a16="http://schemas.microsoft.com/office/drawing/2014/main" id="{66924388-4A54-46D2-2117-8F5B7153138D}"/>
              </a:ext>
            </a:extLst>
          </p:cNvPr>
          <p:cNvSpPr>
            <a:spLocks noGrp="1"/>
          </p:cNvSpPr>
          <p:nvPr>
            <p:ph type="ftr" sz="quarter" idx="11"/>
          </p:nvPr>
        </p:nvSpPr>
        <p:spPr/>
        <p:txBody>
          <a:bodyPr/>
          <a:lstStyle/>
          <a:p>
            <a:endParaRPr lang="nl-BE"/>
          </a:p>
        </p:txBody>
      </p:sp>
      <p:sp>
        <p:nvSpPr>
          <p:cNvPr id="9" name="Tijdelijke aanduiding voor dianummer 8">
            <a:extLst>
              <a:ext uri="{FF2B5EF4-FFF2-40B4-BE49-F238E27FC236}">
                <a16:creationId xmlns:a16="http://schemas.microsoft.com/office/drawing/2014/main" id="{25055294-83DD-0A36-9C57-70BA81381297}"/>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156716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6A54B9-BCB0-E421-B4B1-81E50EB104F8}"/>
              </a:ext>
            </a:extLst>
          </p:cNvPr>
          <p:cNvSpPr>
            <a:spLocks noGrp="1"/>
          </p:cNvSpPr>
          <p:nvPr>
            <p:ph type="title"/>
          </p:nvPr>
        </p:nvSpPr>
        <p:spPr/>
        <p:txBody>
          <a:bodyPr/>
          <a:lstStyle/>
          <a:p>
            <a:r>
              <a:rPr lang="nl-NL"/>
              <a:t>Klik om stijl te bewerken</a:t>
            </a:r>
            <a:endParaRPr lang="nl-BE"/>
          </a:p>
        </p:txBody>
      </p:sp>
      <p:sp>
        <p:nvSpPr>
          <p:cNvPr id="3" name="Tijdelijke aanduiding voor datum 2">
            <a:extLst>
              <a:ext uri="{FF2B5EF4-FFF2-40B4-BE49-F238E27FC236}">
                <a16:creationId xmlns:a16="http://schemas.microsoft.com/office/drawing/2014/main" id="{B701938C-3093-3F99-F034-96C70767E295}"/>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4" name="Tijdelijke aanduiding voor voettekst 3">
            <a:extLst>
              <a:ext uri="{FF2B5EF4-FFF2-40B4-BE49-F238E27FC236}">
                <a16:creationId xmlns:a16="http://schemas.microsoft.com/office/drawing/2014/main" id="{E6CCE75A-AEB9-679D-BA1D-4CF0D956CCBB}"/>
              </a:ext>
            </a:extLst>
          </p:cNvPr>
          <p:cNvSpPr>
            <a:spLocks noGrp="1"/>
          </p:cNvSpPr>
          <p:nvPr>
            <p:ph type="ftr" sz="quarter" idx="11"/>
          </p:nvPr>
        </p:nvSpPr>
        <p:spPr/>
        <p:txBody>
          <a:bodyPr/>
          <a:lstStyle/>
          <a:p>
            <a:endParaRPr lang="nl-BE"/>
          </a:p>
        </p:txBody>
      </p:sp>
      <p:sp>
        <p:nvSpPr>
          <p:cNvPr id="5" name="Tijdelijke aanduiding voor dianummer 4">
            <a:extLst>
              <a:ext uri="{FF2B5EF4-FFF2-40B4-BE49-F238E27FC236}">
                <a16:creationId xmlns:a16="http://schemas.microsoft.com/office/drawing/2014/main" id="{8038CABB-7239-09C6-A2FE-C2277D8FBDB9}"/>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10287151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041614EC-E7AF-8A8F-B94C-C23DC5EDE9EE}"/>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3" name="Tijdelijke aanduiding voor voettekst 2">
            <a:extLst>
              <a:ext uri="{FF2B5EF4-FFF2-40B4-BE49-F238E27FC236}">
                <a16:creationId xmlns:a16="http://schemas.microsoft.com/office/drawing/2014/main" id="{E68B266C-B3A4-860F-0573-F039CBADF93E}"/>
              </a:ext>
            </a:extLst>
          </p:cNvPr>
          <p:cNvSpPr>
            <a:spLocks noGrp="1"/>
          </p:cNvSpPr>
          <p:nvPr>
            <p:ph type="ftr" sz="quarter" idx="11"/>
          </p:nvPr>
        </p:nvSpPr>
        <p:spPr/>
        <p:txBody>
          <a:bodyPr/>
          <a:lstStyle/>
          <a:p>
            <a:endParaRPr lang="nl-BE"/>
          </a:p>
        </p:txBody>
      </p:sp>
      <p:sp>
        <p:nvSpPr>
          <p:cNvPr id="4" name="Tijdelijke aanduiding voor dianummer 3">
            <a:extLst>
              <a:ext uri="{FF2B5EF4-FFF2-40B4-BE49-F238E27FC236}">
                <a16:creationId xmlns:a16="http://schemas.microsoft.com/office/drawing/2014/main" id="{97ECD69F-BBB7-3626-8D51-7B1CB13FFB9F}"/>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20530599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8950CB-2F90-C6F2-FD5D-C03B78B8975A}"/>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nl-BE"/>
          </a:p>
        </p:txBody>
      </p:sp>
      <p:sp>
        <p:nvSpPr>
          <p:cNvPr id="3" name="Tijdelijke aanduiding voor inhoud 2">
            <a:extLst>
              <a:ext uri="{FF2B5EF4-FFF2-40B4-BE49-F238E27FC236}">
                <a16:creationId xmlns:a16="http://schemas.microsoft.com/office/drawing/2014/main" id="{BD089648-944D-7F60-A0BC-11AB13C927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tekst 3">
            <a:extLst>
              <a:ext uri="{FF2B5EF4-FFF2-40B4-BE49-F238E27FC236}">
                <a16:creationId xmlns:a16="http://schemas.microsoft.com/office/drawing/2014/main" id="{ACCE8131-D64D-5F10-D850-C9687B270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F13E56D1-8DF8-4231-09DC-0D98416309CD}"/>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6" name="Tijdelijke aanduiding voor voettekst 5">
            <a:extLst>
              <a:ext uri="{FF2B5EF4-FFF2-40B4-BE49-F238E27FC236}">
                <a16:creationId xmlns:a16="http://schemas.microsoft.com/office/drawing/2014/main" id="{A1CEB2E6-D7D9-D06E-2F79-75C68F45BCEB}"/>
              </a:ext>
            </a:extLst>
          </p:cNvPr>
          <p:cNvSpPr>
            <a:spLocks noGrp="1"/>
          </p:cNvSpPr>
          <p:nvPr>
            <p:ph type="ftr" sz="quarter" idx="11"/>
          </p:nvPr>
        </p:nvSpPr>
        <p:spPr/>
        <p:txBody>
          <a:bodyPr/>
          <a:lstStyle/>
          <a:p>
            <a:endParaRPr lang="nl-BE"/>
          </a:p>
        </p:txBody>
      </p:sp>
      <p:sp>
        <p:nvSpPr>
          <p:cNvPr id="7" name="Tijdelijke aanduiding voor dianummer 6">
            <a:extLst>
              <a:ext uri="{FF2B5EF4-FFF2-40B4-BE49-F238E27FC236}">
                <a16:creationId xmlns:a16="http://schemas.microsoft.com/office/drawing/2014/main" id="{30AB9CF9-FE40-A39E-F401-F729031CBDC5}"/>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39643543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6C61DEE-BF00-7183-20BF-584213EDC4A0}"/>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nl-BE"/>
          </a:p>
        </p:txBody>
      </p:sp>
      <p:sp>
        <p:nvSpPr>
          <p:cNvPr id="3" name="Tijdelijke aanduiding voor afbeelding 2">
            <a:extLst>
              <a:ext uri="{FF2B5EF4-FFF2-40B4-BE49-F238E27FC236}">
                <a16:creationId xmlns:a16="http://schemas.microsoft.com/office/drawing/2014/main" id="{9132F43D-7DAD-7CEF-965C-E66ED8FE85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ijdelijke aanduiding voor tekst 3">
            <a:extLst>
              <a:ext uri="{FF2B5EF4-FFF2-40B4-BE49-F238E27FC236}">
                <a16:creationId xmlns:a16="http://schemas.microsoft.com/office/drawing/2014/main" id="{938F5B74-F561-D46B-CB0E-3D4F19344D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446F7396-E461-2188-55E0-C6B3F4395B83}"/>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6" name="Tijdelijke aanduiding voor voettekst 5">
            <a:extLst>
              <a:ext uri="{FF2B5EF4-FFF2-40B4-BE49-F238E27FC236}">
                <a16:creationId xmlns:a16="http://schemas.microsoft.com/office/drawing/2014/main" id="{DCDB24B6-B5F9-3039-64E4-1805503A9F2B}"/>
              </a:ext>
            </a:extLst>
          </p:cNvPr>
          <p:cNvSpPr>
            <a:spLocks noGrp="1"/>
          </p:cNvSpPr>
          <p:nvPr>
            <p:ph type="ftr" sz="quarter" idx="11"/>
          </p:nvPr>
        </p:nvSpPr>
        <p:spPr/>
        <p:txBody>
          <a:bodyPr/>
          <a:lstStyle/>
          <a:p>
            <a:endParaRPr lang="nl-BE"/>
          </a:p>
        </p:txBody>
      </p:sp>
      <p:sp>
        <p:nvSpPr>
          <p:cNvPr id="7" name="Tijdelijke aanduiding voor dianummer 6">
            <a:extLst>
              <a:ext uri="{FF2B5EF4-FFF2-40B4-BE49-F238E27FC236}">
                <a16:creationId xmlns:a16="http://schemas.microsoft.com/office/drawing/2014/main" id="{B917AC31-3642-EEAF-862E-98CD2A08D859}"/>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4544258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BB8175E-770A-E8E3-37E7-CC398FEC0FE1}"/>
              </a:ext>
            </a:extLst>
          </p:cNvPr>
          <p:cNvSpPr>
            <a:spLocks noGrp="1"/>
          </p:cNvSpPr>
          <p:nvPr>
            <p:ph type="title"/>
          </p:nvPr>
        </p:nvSpPr>
        <p:spPr/>
        <p:txBody>
          <a:bodyPr/>
          <a:lstStyle/>
          <a:p>
            <a:r>
              <a:rPr lang="nl-NL"/>
              <a:t>Klik om stijl te bewerken</a:t>
            </a:r>
            <a:endParaRPr lang="nl-BE"/>
          </a:p>
        </p:txBody>
      </p:sp>
      <p:sp>
        <p:nvSpPr>
          <p:cNvPr id="3" name="Tijdelijke aanduiding voor verticale tekst 2">
            <a:extLst>
              <a:ext uri="{FF2B5EF4-FFF2-40B4-BE49-F238E27FC236}">
                <a16:creationId xmlns:a16="http://schemas.microsoft.com/office/drawing/2014/main" id="{B77092D5-E018-5595-F03A-DC6569D26496}"/>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a:extLst>
              <a:ext uri="{FF2B5EF4-FFF2-40B4-BE49-F238E27FC236}">
                <a16:creationId xmlns:a16="http://schemas.microsoft.com/office/drawing/2014/main" id="{4C5E7D45-41E0-C7AF-9F43-ABAE1B4E40C8}"/>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5" name="Tijdelijke aanduiding voor voettekst 4">
            <a:extLst>
              <a:ext uri="{FF2B5EF4-FFF2-40B4-BE49-F238E27FC236}">
                <a16:creationId xmlns:a16="http://schemas.microsoft.com/office/drawing/2014/main" id="{946C2E66-F7ED-E4A5-D36A-7FCC15B242FA}"/>
              </a:ext>
            </a:extLst>
          </p:cNvPr>
          <p:cNvSpPr>
            <a:spLocks noGrp="1"/>
          </p:cNvSpPr>
          <p:nvPr>
            <p:ph type="ftr" sz="quarter" idx="11"/>
          </p:nvPr>
        </p:nvSpPr>
        <p:spPr/>
        <p:txBody>
          <a:bodyPr/>
          <a:lstStyle/>
          <a:p>
            <a:endParaRPr lang="nl-BE"/>
          </a:p>
        </p:txBody>
      </p:sp>
      <p:sp>
        <p:nvSpPr>
          <p:cNvPr id="6" name="Tijdelijke aanduiding voor dianummer 5">
            <a:extLst>
              <a:ext uri="{FF2B5EF4-FFF2-40B4-BE49-F238E27FC236}">
                <a16:creationId xmlns:a16="http://schemas.microsoft.com/office/drawing/2014/main" id="{DD71F28C-387F-165C-2C6C-FCFDCDA0F321}"/>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14348380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D3957B4E-B268-FCED-3E0C-A11789A17B5B}"/>
              </a:ext>
            </a:extLst>
          </p:cNvPr>
          <p:cNvSpPr>
            <a:spLocks noGrp="1"/>
          </p:cNvSpPr>
          <p:nvPr>
            <p:ph type="title" orient="vert"/>
          </p:nvPr>
        </p:nvSpPr>
        <p:spPr>
          <a:xfrm>
            <a:off x="8724900" y="365125"/>
            <a:ext cx="2628900" cy="5811838"/>
          </a:xfrm>
        </p:spPr>
        <p:txBody>
          <a:bodyPr vert="eaVert"/>
          <a:lstStyle/>
          <a:p>
            <a:r>
              <a:rPr lang="nl-NL"/>
              <a:t>Klik om stijl te bewerken</a:t>
            </a:r>
            <a:endParaRPr lang="nl-BE"/>
          </a:p>
        </p:txBody>
      </p:sp>
      <p:sp>
        <p:nvSpPr>
          <p:cNvPr id="3" name="Tijdelijke aanduiding voor verticale tekst 2">
            <a:extLst>
              <a:ext uri="{FF2B5EF4-FFF2-40B4-BE49-F238E27FC236}">
                <a16:creationId xmlns:a16="http://schemas.microsoft.com/office/drawing/2014/main" id="{96D7E42C-83EA-1937-07F0-0940A5E12322}"/>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a:extLst>
              <a:ext uri="{FF2B5EF4-FFF2-40B4-BE49-F238E27FC236}">
                <a16:creationId xmlns:a16="http://schemas.microsoft.com/office/drawing/2014/main" id="{99835968-EBA8-CDBB-66B1-3A6D11A64DD1}"/>
              </a:ext>
            </a:extLst>
          </p:cNvPr>
          <p:cNvSpPr>
            <a:spLocks noGrp="1"/>
          </p:cNvSpPr>
          <p:nvPr>
            <p:ph type="dt" sz="half" idx="10"/>
          </p:nvPr>
        </p:nvSpPr>
        <p:spPr/>
        <p:txBody>
          <a:bodyPr/>
          <a:lstStyle/>
          <a:p>
            <a:fld id="{90580A52-CE6C-4AEF-83BB-66165ED67ED7}" type="datetimeFigureOut">
              <a:rPr lang="nl-BE" smtClean="0"/>
              <a:t>11/12/2025</a:t>
            </a:fld>
            <a:endParaRPr lang="nl-BE"/>
          </a:p>
        </p:txBody>
      </p:sp>
      <p:sp>
        <p:nvSpPr>
          <p:cNvPr id="5" name="Tijdelijke aanduiding voor voettekst 4">
            <a:extLst>
              <a:ext uri="{FF2B5EF4-FFF2-40B4-BE49-F238E27FC236}">
                <a16:creationId xmlns:a16="http://schemas.microsoft.com/office/drawing/2014/main" id="{45A6D0F1-740D-7BB9-B25D-3C97E07F0400}"/>
              </a:ext>
            </a:extLst>
          </p:cNvPr>
          <p:cNvSpPr>
            <a:spLocks noGrp="1"/>
          </p:cNvSpPr>
          <p:nvPr>
            <p:ph type="ftr" sz="quarter" idx="11"/>
          </p:nvPr>
        </p:nvSpPr>
        <p:spPr/>
        <p:txBody>
          <a:bodyPr/>
          <a:lstStyle/>
          <a:p>
            <a:endParaRPr lang="nl-BE"/>
          </a:p>
        </p:txBody>
      </p:sp>
      <p:sp>
        <p:nvSpPr>
          <p:cNvPr id="6" name="Tijdelijke aanduiding voor dianummer 5">
            <a:extLst>
              <a:ext uri="{FF2B5EF4-FFF2-40B4-BE49-F238E27FC236}">
                <a16:creationId xmlns:a16="http://schemas.microsoft.com/office/drawing/2014/main" id="{03003AD3-1A20-E10E-CBA5-9120A3886340}"/>
              </a:ext>
            </a:extLst>
          </p:cNvPr>
          <p:cNvSpPr>
            <a:spLocks noGrp="1"/>
          </p:cNvSpPr>
          <p:nvPr>
            <p:ph type="sldNum" sz="quarter" idx="12"/>
          </p:nvPr>
        </p:nvSpPr>
        <p:spPr/>
        <p:txBody>
          <a:bodyPr/>
          <a:lstStyle/>
          <a:p>
            <a:fld id="{8DB093D9-518A-45F2-B7C5-14FF0DAA0A99}" type="slidenum">
              <a:rPr lang="nl-BE" smtClean="0"/>
              <a:t>‹nr.›</a:t>
            </a:fld>
            <a:endParaRPr lang="nl-BE"/>
          </a:p>
        </p:txBody>
      </p:sp>
    </p:spTree>
    <p:extLst>
      <p:ext uri="{BB962C8B-B14F-4D97-AF65-F5344CB8AC3E}">
        <p14:creationId xmlns:p14="http://schemas.microsoft.com/office/powerpoint/2010/main" val="38281234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423821EA-8052-8DFA-8C1D-409959B51D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nl-BE"/>
          </a:p>
        </p:txBody>
      </p:sp>
      <p:sp>
        <p:nvSpPr>
          <p:cNvPr id="3" name="Tijdelijke aanduiding voor tekst 2">
            <a:extLst>
              <a:ext uri="{FF2B5EF4-FFF2-40B4-BE49-F238E27FC236}">
                <a16:creationId xmlns:a16="http://schemas.microsoft.com/office/drawing/2014/main" id="{6B4245C6-D2FF-C96B-3D0A-196C295167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4" name="Tijdelijke aanduiding voor datum 3">
            <a:extLst>
              <a:ext uri="{FF2B5EF4-FFF2-40B4-BE49-F238E27FC236}">
                <a16:creationId xmlns:a16="http://schemas.microsoft.com/office/drawing/2014/main" id="{B63F4D51-B9C1-3EBA-10EB-E7723C804A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0580A52-CE6C-4AEF-83BB-66165ED67ED7}" type="datetimeFigureOut">
              <a:rPr lang="nl-BE" smtClean="0"/>
              <a:t>11/12/2025</a:t>
            </a:fld>
            <a:endParaRPr lang="nl-BE"/>
          </a:p>
        </p:txBody>
      </p:sp>
      <p:sp>
        <p:nvSpPr>
          <p:cNvPr id="5" name="Tijdelijke aanduiding voor voettekst 4">
            <a:extLst>
              <a:ext uri="{FF2B5EF4-FFF2-40B4-BE49-F238E27FC236}">
                <a16:creationId xmlns:a16="http://schemas.microsoft.com/office/drawing/2014/main" id="{DE82D6C9-18B6-BEF8-607D-751536D519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BE"/>
          </a:p>
        </p:txBody>
      </p:sp>
      <p:sp>
        <p:nvSpPr>
          <p:cNvPr id="6" name="Tijdelijke aanduiding voor dianummer 5">
            <a:extLst>
              <a:ext uri="{FF2B5EF4-FFF2-40B4-BE49-F238E27FC236}">
                <a16:creationId xmlns:a16="http://schemas.microsoft.com/office/drawing/2014/main" id="{71B8E13F-4FC8-3D27-1C26-4B38722FC2D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B093D9-518A-45F2-B7C5-14FF0DAA0A99}" type="slidenum">
              <a:rPr lang="nl-BE" smtClean="0"/>
              <a:t>‹nr.›</a:t>
            </a:fld>
            <a:endParaRPr lang="nl-BE"/>
          </a:p>
        </p:txBody>
      </p:sp>
    </p:spTree>
    <p:extLst>
      <p:ext uri="{BB962C8B-B14F-4D97-AF65-F5344CB8AC3E}">
        <p14:creationId xmlns:p14="http://schemas.microsoft.com/office/powerpoint/2010/main" val="28670851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2A5BAA-415B-4F9D-FA2F-72AA0F7E7178}"/>
              </a:ext>
            </a:extLst>
          </p:cNvPr>
          <p:cNvSpPr>
            <a:spLocks noGrp="1"/>
          </p:cNvSpPr>
          <p:nvPr>
            <p:ph type="ctrTitle"/>
          </p:nvPr>
        </p:nvSpPr>
        <p:spPr/>
        <p:txBody>
          <a:bodyPr anchor="ctr"/>
          <a:lstStyle/>
          <a:p>
            <a:r>
              <a:rPr lang="nl-BE" dirty="0"/>
              <a:t>CASE</a:t>
            </a:r>
          </a:p>
        </p:txBody>
      </p:sp>
      <p:sp>
        <p:nvSpPr>
          <p:cNvPr id="3" name="Ondertitel 2">
            <a:extLst>
              <a:ext uri="{FF2B5EF4-FFF2-40B4-BE49-F238E27FC236}">
                <a16:creationId xmlns:a16="http://schemas.microsoft.com/office/drawing/2014/main" id="{19FF9952-6D02-0E34-F721-DA64BDC5DCB8}"/>
              </a:ext>
            </a:extLst>
          </p:cNvPr>
          <p:cNvSpPr>
            <a:spLocks noGrp="1"/>
          </p:cNvSpPr>
          <p:nvPr>
            <p:ph type="subTitle" idx="1"/>
          </p:nvPr>
        </p:nvSpPr>
        <p:spPr/>
        <p:txBody>
          <a:bodyPr anchor="ctr"/>
          <a:lstStyle/>
          <a:p>
            <a:r>
              <a:rPr lang="nl-BE" dirty="0"/>
              <a:t>Makers van de website case.codezi.be</a:t>
            </a:r>
          </a:p>
          <a:p>
            <a:r>
              <a:rPr lang="nl-BE" dirty="0" err="1"/>
              <a:t>Ziggy</a:t>
            </a:r>
            <a:r>
              <a:rPr lang="nl-BE" dirty="0"/>
              <a:t> &amp; </a:t>
            </a:r>
            <a:r>
              <a:rPr lang="nl-BE" dirty="0" err="1"/>
              <a:t>Ahmet</a:t>
            </a:r>
            <a:endParaRPr lang="nl-BE" dirty="0"/>
          </a:p>
        </p:txBody>
      </p:sp>
    </p:spTree>
    <p:extLst>
      <p:ext uri="{BB962C8B-B14F-4D97-AF65-F5344CB8AC3E}">
        <p14:creationId xmlns:p14="http://schemas.microsoft.com/office/powerpoint/2010/main" val="33392360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300402-1ADB-8457-9BF6-C352A626A127}"/>
              </a:ext>
            </a:extLst>
          </p:cNvPr>
          <p:cNvSpPr>
            <a:spLocks noGrp="1"/>
          </p:cNvSpPr>
          <p:nvPr>
            <p:ph type="title"/>
          </p:nvPr>
        </p:nvSpPr>
        <p:spPr>
          <a:xfrm>
            <a:off x="838200" y="143452"/>
            <a:ext cx="10515600" cy="1325563"/>
          </a:xfrm>
        </p:spPr>
        <p:txBody>
          <a:bodyPr anchor="t"/>
          <a:lstStyle/>
          <a:p>
            <a:pPr algn="ctr"/>
            <a:r>
              <a:rPr lang="nl-BE" dirty="0"/>
              <a:t>Woensdag</a:t>
            </a:r>
            <a:br>
              <a:rPr lang="nl-BE" dirty="0"/>
            </a:br>
            <a:r>
              <a:rPr lang="nl-BE" dirty="0"/>
              <a:t>De start van de case</a:t>
            </a:r>
          </a:p>
        </p:txBody>
      </p:sp>
      <p:sp>
        <p:nvSpPr>
          <p:cNvPr id="3" name="Tijdelijke aanduiding voor inhoud 2">
            <a:extLst>
              <a:ext uri="{FF2B5EF4-FFF2-40B4-BE49-F238E27FC236}">
                <a16:creationId xmlns:a16="http://schemas.microsoft.com/office/drawing/2014/main" id="{2C4B0FC0-5FAF-66AE-601B-F1BAB6FA766F}"/>
              </a:ext>
            </a:extLst>
          </p:cNvPr>
          <p:cNvSpPr>
            <a:spLocks noGrp="1"/>
          </p:cNvSpPr>
          <p:nvPr>
            <p:ph idx="1"/>
          </p:nvPr>
        </p:nvSpPr>
        <p:spPr>
          <a:xfrm>
            <a:off x="838200" y="1825625"/>
            <a:ext cx="4988626" cy="4351338"/>
          </a:xfrm>
        </p:spPr>
        <p:txBody>
          <a:bodyPr anchor="ctr">
            <a:normAutofit/>
          </a:bodyPr>
          <a:lstStyle/>
          <a:p>
            <a:pPr marL="0" indent="0">
              <a:buNone/>
            </a:pPr>
            <a:r>
              <a:rPr lang="nl-BE" sz="2000" dirty="0"/>
              <a:t>Op dag 1 zijn we gestart met de case door eerst te brainstormen over welke soort horecagelegenheid we wilden uitwerken. We merkten al snel dat het moeilijk was om een definitieve keuze te maken, omdat we verschillende richtingen overwogen. Na een periode van twijfelen besloten we het even te laten rusten. Thuis hebben we elk individueel verder nagedacht en een persoonlijke top 3 opgesteld van mogelijke concepten. Op die manier konden we de volgende dag gerichter verder te werken aan de case.</a:t>
            </a:r>
          </a:p>
        </p:txBody>
      </p:sp>
      <p:pic>
        <p:nvPicPr>
          <p:cNvPr id="5" name="Afbeelding 4" descr="Afbeelding met kleding, tafel, tekenfilm, persoon&#10;&#10;Door AI gegenereerde inhoud is mogelijk onjuist.">
            <a:extLst>
              <a:ext uri="{FF2B5EF4-FFF2-40B4-BE49-F238E27FC236}">
                <a16:creationId xmlns:a16="http://schemas.microsoft.com/office/drawing/2014/main" id="{C1EA638B-96C6-3C0C-A8BA-044259D497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49536" y="1620981"/>
            <a:ext cx="5614937" cy="4075216"/>
          </a:xfrm>
          <a:prstGeom prst="rect">
            <a:avLst/>
          </a:prstGeom>
        </p:spPr>
      </p:pic>
    </p:spTree>
    <p:extLst>
      <p:ext uri="{BB962C8B-B14F-4D97-AF65-F5344CB8AC3E}">
        <p14:creationId xmlns:p14="http://schemas.microsoft.com/office/powerpoint/2010/main" val="401264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D978C91-1F47-8AF0-EBFF-26F073E699CD}"/>
              </a:ext>
            </a:extLst>
          </p:cNvPr>
          <p:cNvSpPr>
            <a:spLocks noGrp="1"/>
          </p:cNvSpPr>
          <p:nvPr>
            <p:ph type="title"/>
          </p:nvPr>
        </p:nvSpPr>
        <p:spPr/>
        <p:txBody>
          <a:bodyPr/>
          <a:lstStyle/>
          <a:p>
            <a:pPr algn="ctr"/>
            <a:r>
              <a:rPr lang="nl-BE" dirty="0"/>
              <a:t>Donderdag</a:t>
            </a:r>
            <a:br>
              <a:rPr lang="nl-BE" dirty="0"/>
            </a:br>
            <a:r>
              <a:rPr lang="nl-BE" dirty="0"/>
              <a:t>De beslissing, de </a:t>
            </a:r>
            <a:r>
              <a:rPr lang="nl-BE" dirty="0" err="1"/>
              <a:t>wireframe</a:t>
            </a:r>
            <a:r>
              <a:rPr lang="nl-BE" dirty="0"/>
              <a:t> </a:t>
            </a:r>
          </a:p>
        </p:txBody>
      </p:sp>
      <p:sp>
        <p:nvSpPr>
          <p:cNvPr id="3" name="Tijdelijke aanduiding voor inhoud 2">
            <a:extLst>
              <a:ext uri="{FF2B5EF4-FFF2-40B4-BE49-F238E27FC236}">
                <a16:creationId xmlns:a16="http://schemas.microsoft.com/office/drawing/2014/main" id="{7F1C7C0B-3A84-333E-B934-13DF52FC7225}"/>
              </a:ext>
            </a:extLst>
          </p:cNvPr>
          <p:cNvSpPr>
            <a:spLocks noGrp="1"/>
          </p:cNvSpPr>
          <p:nvPr>
            <p:ph idx="1"/>
          </p:nvPr>
        </p:nvSpPr>
        <p:spPr>
          <a:xfrm>
            <a:off x="5490358" y="1825625"/>
            <a:ext cx="5863442" cy="4351338"/>
          </a:xfrm>
        </p:spPr>
        <p:txBody>
          <a:bodyPr anchor="ctr">
            <a:normAutofit/>
          </a:bodyPr>
          <a:lstStyle/>
          <a:p>
            <a:pPr marL="0" indent="0">
              <a:buNone/>
            </a:pPr>
            <a:r>
              <a:rPr lang="nl-BE" sz="2000" dirty="0"/>
              <a:t>Op dag 2 zijn we op school opnieuw samengekomen om de top 3 van iedere persoon in de groep te bespreken. Tijdens deze bespreking kwamen we gezamenlijk tot de beslissing om te kiezen voor een </a:t>
            </a:r>
            <a:r>
              <a:rPr lang="nl-BE" sz="2000" i="1" dirty="0" err="1"/>
              <a:t>all</a:t>
            </a:r>
            <a:r>
              <a:rPr lang="nl-BE" sz="2000" i="1" dirty="0"/>
              <a:t> </a:t>
            </a:r>
            <a:r>
              <a:rPr lang="nl-BE" sz="2000" i="1" dirty="0" err="1"/>
              <a:t>you</a:t>
            </a:r>
            <a:r>
              <a:rPr lang="nl-BE" sz="2000" i="1" dirty="0"/>
              <a:t> </a:t>
            </a:r>
            <a:r>
              <a:rPr lang="nl-BE" sz="2000" i="1" dirty="0" err="1"/>
              <a:t>can</a:t>
            </a:r>
            <a:r>
              <a:rPr lang="nl-BE" sz="2000" i="1" dirty="0"/>
              <a:t> </a:t>
            </a:r>
            <a:r>
              <a:rPr lang="nl-BE" sz="2000" i="1" dirty="0" err="1"/>
              <a:t>eat</a:t>
            </a:r>
            <a:r>
              <a:rPr lang="nl-BE" sz="2000" dirty="0"/>
              <a:t>-restaurant als ons concept.</a:t>
            </a:r>
          </a:p>
          <a:p>
            <a:pPr marL="0" indent="0">
              <a:buNone/>
            </a:pPr>
            <a:r>
              <a:rPr lang="nl-BE" sz="2000" dirty="0"/>
              <a:t>Na het maken van deze keuze zijn we meteen begonnen met brainstormen over hoe onze website eruit zou moeten zien. Zodra we hierover een duidelijk beeld hadden, zijn we in </a:t>
            </a:r>
            <a:r>
              <a:rPr lang="nl-BE" sz="2000" dirty="0" err="1"/>
              <a:t>Figma</a:t>
            </a:r>
            <a:r>
              <a:rPr lang="nl-BE" sz="2000" dirty="0"/>
              <a:t> aan de slag gegaan om de </a:t>
            </a:r>
            <a:r>
              <a:rPr lang="nl-BE" sz="2000" dirty="0" err="1"/>
              <a:t>wireframe</a:t>
            </a:r>
            <a:r>
              <a:rPr lang="nl-BE" sz="2000" dirty="0"/>
              <a:t> te ontwerpen. Tegen het einde van de dag was ons ontwerp volledig af.</a:t>
            </a:r>
          </a:p>
          <a:p>
            <a:pPr marL="0" indent="0">
              <a:buNone/>
            </a:pPr>
            <a:endParaRPr lang="nl-BE" sz="2000" dirty="0"/>
          </a:p>
        </p:txBody>
      </p:sp>
      <p:pic>
        <p:nvPicPr>
          <p:cNvPr id="5" name="Afbeelding 4" descr="Afbeelding met pen, verbruiksartikelen voor kantoor, briefpapier, Kantoorinstrument&#10;&#10;Door AI gegenereerde inhoud is mogelijk onjuist.">
            <a:extLst>
              <a:ext uri="{FF2B5EF4-FFF2-40B4-BE49-F238E27FC236}">
                <a16:creationId xmlns:a16="http://schemas.microsoft.com/office/drawing/2014/main" id="{981A43FA-8BF0-243B-8E61-83C966AF8D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1939" y="2302895"/>
            <a:ext cx="4448824" cy="2964724"/>
          </a:xfrm>
          <a:prstGeom prst="rect">
            <a:avLst/>
          </a:prstGeom>
        </p:spPr>
      </p:pic>
    </p:spTree>
    <p:extLst>
      <p:ext uri="{BB962C8B-B14F-4D97-AF65-F5344CB8AC3E}">
        <p14:creationId xmlns:p14="http://schemas.microsoft.com/office/powerpoint/2010/main" val="672993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334443-95F4-ABCE-DA18-13E1E68C0EDA}"/>
              </a:ext>
            </a:extLst>
          </p:cNvPr>
          <p:cNvSpPr>
            <a:spLocks noGrp="1"/>
          </p:cNvSpPr>
          <p:nvPr>
            <p:ph type="title"/>
          </p:nvPr>
        </p:nvSpPr>
        <p:spPr>
          <a:xfrm>
            <a:off x="838200" y="154379"/>
            <a:ext cx="10515600" cy="1374013"/>
          </a:xfrm>
        </p:spPr>
        <p:txBody>
          <a:bodyPr/>
          <a:lstStyle/>
          <a:p>
            <a:pPr algn="ctr"/>
            <a:r>
              <a:rPr lang="nl-BE" dirty="0"/>
              <a:t>Vrijdag</a:t>
            </a:r>
            <a:br>
              <a:rPr lang="nl-BE" dirty="0"/>
            </a:br>
            <a:r>
              <a:rPr lang="nl-BE" dirty="0"/>
              <a:t>aanpassing </a:t>
            </a:r>
            <a:r>
              <a:rPr lang="nl-BE" dirty="0" err="1"/>
              <a:t>wirefarme</a:t>
            </a:r>
            <a:r>
              <a:rPr lang="nl-BE" dirty="0"/>
              <a:t>, start van coderen</a:t>
            </a:r>
          </a:p>
        </p:txBody>
      </p:sp>
      <p:sp>
        <p:nvSpPr>
          <p:cNvPr id="3" name="Tijdelijke aanduiding voor inhoud 2">
            <a:extLst>
              <a:ext uri="{FF2B5EF4-FFF2-40B4-BE49-F238E27FC236}">
                <a16:creationId xmlns:a16="http://schemas.microsoft.com/office/drawing/2014/main" id="{05912A0E-CC01-293D-3487-400E82AD229E}"/>
              </a:ext>
            </a:extLst>
          </p:cNvPr>
          <p:cNvSpPr>
            <a:spLocks noGrp="1"/>
          </p:cNvSpPr>
          <p:nvPr>
            <p:ph idx="1"/>
          </p:nvPr>
        </p:nvSpPr>
        <p:spPr>
          <a:xfrm>
            <a:off x="838200" y="1592241"/>
            <a:ext cx="9992096" cy="1325563"/>
          </a:xfrm>
        </p:spPr>
        <p:txBody>
          <a:bodyPr anchor="ctr">
            <a:normAutofit/>
          </a:bodyPr>
          <a:lstStyle/>
          <a:p>
            <a:pPr marL="0" indent="0">
              <a:buNone/>
            </a:pPr>
            <a:r>
              <a:rPr lang="nl-BE" sz="2000" dirty="0"/>
              <a:t>Op dag 3 hebben we eerst enkele kleine aanpassingen aangebracht aan het </a:t>
            </a:r>
            <a:r>
              <a:rPr lang="nl-BE" sz="2000" dirty="0" err="1"/>
              <a:t>wireframe</a:t>
            </a:r>
            <a:r>
              <a:rPr lang="nl-BE" sz="2000" dirty="0"/>
              <a:t>. Nadat deze verbeteringen waren doorgevoerd, zijn we begonnen met het coderen van de navigatiebalk en de </a:t>
            </a:r>
            <a:r>
              <a:rPr lang="nl-BE" sz="2000" dirty="0" err="1"/>
              <a:t>footer</a:t>
            </a:r>
            <a:r>
              <a:rPr lang="nl-BE" sz="2000" dirty="0"/>
              <a:t>. Vervolgens hebben we de eerste stappen gezet in het uitwerken van de indexpagina.</a:t>
            </a:r>
          </a:p>
        </p:txBody>
      </p:sp>
      <p:pic>
        <p:nvPicPr>
          <p:cNvPr id="5" name="Afbeelding 4">
            <a:extLst>
              <a:ext uri="{FF2B5EF4-FFF2-40B4-BE49-F238E27FC236}">
                <a16:creationId xmlns:a16="http://schemas.microsoft.com/office/drawing/2014/main" id="{EBBD0C1E-74BE-0D80-54F0-95AF90860326}"/>
              </a:ext>
            </a:extLst>
          </p:cNvPr>
          <p:cNvPicPr>
            <a:picLocks noChangeAspect="1"/>
          </p:cNvPicPr>
          <p:nvPr/>
        </p:nvPicPr>
        <p:blipFill>
          <a:blip r:embed="rId2"/>
          <a:stretch>
            <a:fillRect/>
          </a:stretch>
        </p:blipFill>
        <p:spPr>
          <a:xfrm>
            <a:off x="2413740" y="2917804"/>
            <a:ext cx="7364520" cy="3802577"/>
          </a:xfrm>
          <a:prstGeom prst="rect">
            <a:avLst/>
          </a:prstGeom>
        </p:spPr>
      </p:pic>
    </p:spTree>
    <p:extLst>
      <p:ext uri="{BB962C8B-B14F-4D97-AF65-F5344CB8AC3E}">
        <p14:creationId xmlns:p14="http://schemas.microsoft.com/office/powerpoint/2010/main" val="3838526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51F6F98-BA0F-2F98-AEED-E877EDD1B176}"/>
              </a:ext>
            </a:extLst>
          </p:cNvPr>
          <p:cNvSpPr>
            <a:spLocks noGrp="1"/>
          </p:cNvSpPr>
          <p:nvPr>
            <p:ph type="title"/>
          </p:nvPr>
        </p:nvSpPr>
        <p:spPr/>
        <p:txBody>
          <a:bodyPr/>
          <a:lstStyle/>
          <a:p>
            <a:pPr algn="ctr"/>
            <a:r>
              <a:rPr lang="nl-BE" dirty="0"/>
              <a:t>Zaterdag &amp; Zondag</a:t>
            </a:r>
            <a:br>
              <a:rPr lang="nl-BE" dirty="0"/>
            </a:br>
            <a:r>
              <a:rPr lang="nl-BE" dirty="0"/>
              <a:t>Veranderen in een </a:t>
            </a:r>
            <a:r>
              <a:rPr lang="nl-BE" dirty="0" err="1"/>
              <a:t>htmlmonkey</a:t>
            </a:r>
            <a:endParaRPr lang="nl-BE" dirty="0"/>
          </a:p>
        </p:txBody>
      </p:sp>
      <p:sp>
        <p:nvSpPr>
          <p:cNvPr id="3" name="Tijdelijke aanduiding voor inhoud 2">
            <a:extLst>
              <a:ext uri="{FF2B5EF4-FFF2-40B4-BE49-F238E27FC236}">
                <a16:creationId xmlns:a16="http://schemas.microsoft.com/office/drawing/2014/main" id="{7092B6BE-91ED-24A4-15A0-05B6F10C7F77}"/>
              </a:ext>
            </a:extLst>
          </p:cNvPr>
          <p:cNvSpPr>
            <a:spLocks noGrp="1"/>
          </p:cNvSpPr>
          <p:nvPr>
            <p:ph idx="1"/>
          </p:nvPr>
        </p:nvSpPr>
        <p:spPr/>
        <p:txBody>
          <a:bodyPr anchor="ctr">
            <a:normAutofit/>
          </a:bodyPr>
          <a:lstStyle/>
          <a:p>
            <a:pPr marL="0" indent="0">
              <a:buNone/>
            </a:pPr>
            <a:r>
              <a:rPr lang="nl-BE" sz="2000" b="1" dirty="0"/>
              <a:t>Tijdens het weekend hebben we belangrijke vooruitgang geboekt aan ons project.</a:t>
            </a:r>
            <a:br>
              <a:rPr lang="nl-BE" sz="2000" dirty="0"/>
            </a:br>
            <a:r>
              <a:rPr lang="nl-BE" sz="2000" dirty="0"/>
              <a:t>Op zaterdag hebben we verder gewerkt aan de indexpagina. We hadden eerder al een goede basis gelegd, dus konden we die dag vooral focussen op het verder uitwerken en finetunen van de inhoud en de styling. Tegen het einde van de werkdag was de indexpagina volledig afgewerkt. Ondertussen werkte een ander groepslid aan de contactpagina, die aan het einde van de dag bijna klaar was. Er ontbraken enkel nog enkele stijlverbeteringen en de </a:t>
            </a:r>
            <a:r>
              <a:rPr lang="nl-BE" sz="2000" dirty="0" err="1"/>
              <a:t>JavaScript</a:t>
            </a:r>
            <a:r>
              <a:rPr lang="nl-BE" sz="2000" dirty="0"/>
              <a:t>-validatie.</a:t>
            </a:r>
          </a:p>
          <a:p>
            <a:pPr marL="0" indent="0">
              <a:buNone/>
            </a:pPr>
            <a:r>
              <a:rPr lang="nl-BE" sz="2000" dirty="0"/>
              <a:t>Op zondag hebben we de HTML- en CSS-structuur van de contactpagina volledig afgerond. Daarnaast zijn we begonnen aan het opzetten van het registratieformulier, zodat we alvast een eerste basis hadden voor de volgende werkdag.</a:t>
            </a:r>
          </a:p>
          <a:p>
            <a:pPr marL="0" indent="0">
              <a:buNone/>
            </a:pPr>
            <a:r>
              <a:rPr lang="nl-BE" sz="2000" dirty="0"/>
              <a:t>Hoewel we in het weekend stevig hebben doorgewerkt, hebben we gelukkig ook nog tijd gevonden om te ontspannen en even te genieten.</a:t>
            </a:r>
          </a:p>
          <a:p>
            <a:pPr marL="0" indent="0">
              <a:buNone/>
            </a:pPr>
            <a:endParaRPr lang="nl-BE" sz="2000" dirty="0"/>
          </a:p>
        </p:txBody>
      </p:sp>
    </p:spTree>
    <p:extLst>
      <p:ext uri="{BB962C8B-B14F-4D97-AF65-F5344CB8AC3E}">
        <p14:creationId xmlns:p14="http://schemas.microsoft.com/office/powerpoint/2010/main" val="1962035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5D08A0-1126-A74B-94EF-A815EBDE5023}"/>
              </a:ext>
            </a:extLst>
          </p:cNvPr>
          <p:cNvSpPr>
            <a:spLocks noGrp="1"/>
          </p:cNvSpPr>
          <p:nvPr>
            <p:ph type="title"/>
          </p:nvPr>
        </p:nvSpPr>
        <p:spPr/>
        <p:txBody>
          <a:bodyPr/>
          <a:lstStyle/>
          <a:p>
            <a:pPr algn="ctr"/>
            <a:r>
              <a:rPr lang="nl-BE" dirty="0"/>
              <a:t>Maandag</a:t>
            </a:r>
            <a:br>
              <a:rPr lang="nl-BE" dirty="0"/>
            </a:br>
            <a:r>
              <a:rPr lang="nl-BE" dirty="0"/>
              <a:t>Start validatie contact pagina</a:t>
            </a:r>
          </a:p>
        </p:txBody>
      </p:sp>
      <p:sp>
        <p:nvSpPr>
          <p:cNvPr id="3" name="Tijdelijke aanduiding voor inhoud 2">
            <a:extLst>
              <a:ext uri="{FF2B5EF4-FFF2-40B4-BE49-F238E27FC236}">
                <a16:creationId xmlns:a16="http://schemas.microsoft.com/office/drawing/2014/main" id="{EF63539A-1A87-7D9E-69BE-B8DBF8E35DCC}"/>
              </a:ext>
            </a:extLst>
          </p:cNvPr>
          <p:cNvSpPr>
            <a:spLocks noGrp="1"/>
          </p:cNvSpPr>
          <p:nvPr>
            <p:ph idx="1"/>
          </p:nvPr>
        </p:nvSpPr>
        <p:spPr>
          <a:xfrm>
            <a:off x="838200" y="1980004"/>
            <a:ext cx="6247410" cy="4351338"/>
          </a:xfrm>
        </p:spPr>
        <p:txBody>
          <a:bodyPr anchor="ctr">
            <a:normAutofit/>
          </a:bodyPr>
          <a:lstStyle/>
          <a:p>
            <a:pPr marL="0" indent="0">
              <a:buNone/>
            </a:pPr>
            <a:r>
              <a:rPr lang="nl-BE" sz="2000" dirty="0"/>
              <a:t>Op maandag zijn we gestart met het valideren van het contactformulier. Terwijl één deel van de groep zich bezig hield met de </a:t>
            </a:r>
            <a:r>
              <a:rPr lang="nl-BE" sz="2000" dirty="0" err="1"/>
              <a:t>JavaScript</a:t>
            </a:r>
            <a:r>
              <a:rPr lang="nl-BE" sz="2000" dirty="0"/>
              <a:t>-validatie, werkte de rest verder aan de HTML- en CSS-structuur van het registratieformulier. Door deze taakverdeling konden we efficiënt doorwerken.</a:t>
            </a:r>
          </a:p>
          <a:p>
            <a:pPr marL="0" indent="0">
              <a:buNone/>
            </a:pPr>
            <a:r>
              <a:rPr lang="nl-BE" sz="2000" dirty="0"/>
              <a:t>Tegen het einde van de werkdag hadden we een volledig werkend en gevalideerd contactformulier. Daarnaast stond ook het registratieformulier er al visueel sterk op, met een verzorgde lay-out en een duidelijke structuur.</a:t>
            </a:r>
          </a:p>
          <a:p>
            <a:pPr marL="0" indent="0">
              <a:buNone/>
            </a:pPr>
            <a:endParaRPr lang="nl-BE" sz="2000" dirty="0"/>
          </a:p>
        </p:txBody>
      </p:sp>
      <p:pic>
        <p:nvPicPr>
          <p:cNvPr id="5" name="Afbeelding 4">
            <a:extLst>
              <a:ext uri="{FF2B5EF4-FFF2-40B4-BE49-F238E27FC236}">
                <a16:creationId xmlns:a16="http://schemas.microsoft.com/office/drawing/2014/main" id="{1DB92B8C-E8BC-54FA-2965-B09F538468B5}"/>
              </a:ext>
            </a:extLst>
          </p:cNvPr>
          <p:cNvPicPr>
            <a:picLocks noChangeAspect="1"/>
          </p:cNvPicPr>
          <p:nvPr/>
        </p:nvPicPr>
        <p:blipFill>
          <a:blip r:embed="rId2"/>
          <a:stretch>
            <a:fillRect/>
          </a:stretch>
        </p:blipFill>
        <p:spPr>
          <a:xfrm>
            <a:off x="7334993" y="1900050"/>
            <a:ext cx="4479690" cy="4609605"/>
          </a:xfrm>
          <a:prstGeom prst="rect">
            <a:avLst/>
          </a:prstGeom>
        </p:spPr>
      </p:pic>
    </p:spTree>
    <p:extLst>
      <p:ext uri="{BB962C8B-B14F-4D97-AF65-F5344CB8AC3E}">
        <p14:creationId xmlns:p14="http://schemas.microsoft.com/office/powerpoint/2010/main" val="70336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80">
                                          <p:stCondLst>
                                            <p:cond delay="0"/>
                                          </p:stCondLst>
                                        </p:cTn>
                                        <p:tgtEl>
                                          <p:spTgt spid="5"/>
                                        </p:tgtEl>
                                      </p:cBhvr>
                                    </p:animEffect>
                                    <p:anim calcmode="lin" valueType="num">
                                      <p:cBhvr>
                                        <p:cTn id="8"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13" dur="26">
                                          <p:stCondLst>
                                            <p:cond delay="650"/>
                                          </p:stCondLst>
                                        </p:cTn>
                                        <p:tgtEl>
                                          <p:spTgt spid="5"/>
                                        </p:tgtEl>
                                      </p:cBhvr>
                                      <p:to x="100000" y="60000"/>
                                    </p:animScale>
                                    <p:animScale>
                                      <p:cBhvr>
                                        <p:cTn id="14" dur="166" decel="50000">
                                          <p:stCondLst>
                                            <p:cond delay="676"/>
                                          </p:stCondLst>
                                        </p:cTn>
                                        <p:tgtEl>
                                          <p:spTgt spid="5"/>
                                        </p:tgtEl>
                                      </p:cBhvr>
                                      <p:to x="100000" y="100000"/>
                                    </p:animScale>
                                    <p:animScale>
                                      <p:cBhvr>
                                        <p:cTn id="15" dur="26">
                                          <p:stCondLst>
                                            <p:cond delay="1312"/>
                                          </p:stCondLst>
                                        </p:cTn>
                                        <p:tgtEl>
                                          <p:spTgt spid="5"/>
                                        </p:tgtEl>
                                      </p:cBhvr>
                                      <p:to x="100000" y="80000"/>
                                    </p:animScale>
                                    <p:animScale>
                                      <p:cBhvr>
                                        <p:cTn id="16" dur="166" decel="50000">
                                          <p:stCondLst>
                                            <p:cond delay="1338"/>
                                          </p:stCondLst>
                                        </p:cTn>
                                        <p:tgtEl>
                                          <p:spTgt spid="5"/>
                                        </p:tgtEl>
                                      </p:cBhvr>
                                      <p:to x="100000" y="100000"/>
                                    </p:animScale>
                                    <p:animScale>
                                      <p:cBhvr>
                                        <p:cTn id="17" dur="26">
                                          <p:stCondLst>
                                            <p:cond delay="1642"/>
                                          </p:stCondLst>
                                        </p:cTn>
                                        <p:tgtEl>
                                          <p:spTgt spid="5"/>
                                        </p:tgtEl>
                                      </p:cBhvr>
                                      <p:to x="100000" y="90000"/>
                                    </p:animScale>
                                    <p:animScale>
                                      <p:cBhvr>
                                        <p:cTn id="18" dur="166" decel="50000">
                                          <p:stCondLst>
                                            <p:cond delay="1668"/>
                                          </p:stCondLst>
                                        </p:cTn>
                                        <p:tgtEl>
                                          <p:spTgt spid="5"/>
                                        </p:tgtEl>
                                      </p:cBhvr>
                                      <p:to x="100000" y="100000"/>
                                    </p:animScale>
                                    <p:animScale>
                                      <p:cBhvr>
                                        <p:cTn id="19" dur="26">
                                          <p:stCondLst>
                                            <p:cond delay="1808"/>
                                          </p:stCondLst>
                                        </p:cTn>
                                        <p:tgtEl>
                                          <p:spTgt spid="5"/>
                                        </p:tgtEl>
                                      </p:cBhvr>
                                      <p:to x="100000" y="95000"/>
                                    </p:animScale>
                                    <p:animScale>
                                      <p:cBhvr>
                                        <p:cTn id="20" dur="166" decel="50000">
                                          <p:stCondLst>
                                            <p:cond delay="1834"/>
                                          </p:stCondLst>
                                        </p:cTn>
                                        <p:tgtEl>
                                          <p:spTgt spid="5"/>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5E6B76-C820-8455-DE1A-CDB906DE9E13}"/>
              </a:ext>
            </a:extLst>
          </p:cNvPr>
          <p:cNvSpPr>
            <a:spLocks noGrp="1"/>
          </p:cNvSpPr>
          <p:nvPr>
            <p:ph type="title"/>
          </p:nvPr>
        </p:nvSpPr>
        <p:spPr/>
        <p:txBody>
          <a:bodyPr/>
          <a:lstStyle/>
          <a:p>
            <a:pPr algn="ctr"/>
            <a:r>
              <a:rPr lang="nl-BE" dirty="0"/>
              <a:t>Dinsdag</a:t>
            </a:r>
            <a:br>
              <a:rPr lang="nl-BE" dirty="0"/>
            </a:br>
            <a:r>
              <a:rPr lang="nl-BE" dirty="0"/>
              <a:t>Start javascript avontuur</a:t>
            </a:r>
          </a:p>
        </p:txBody>
      </p:sp>
      <p:sp>
        <p:nvSpPr>
          <p:cNvPr id="3" name="Tijdelijke aanduiding voor inhoud 2">
            <a:extLst>
              <a:ext uri="{FF2B5EF4-FFF2-40B4-BE49-F238E27FC236}">
                <a16:creationId xmlns:a16="http://schemas.microsoft.com/office/drawing/2014/main" id="{0F7A054C-99BC-446C-3095-1232CC2B3230}"/>
              </a:ext>
            </a:extLst>
          </p:cNvPr>
          <p:cNvSpPr>
            <a:spLocks noGrp="1"/>
          </p:cNvSpPr>
          <p:nvPr>
            <p:ph idx="1"/>
          </p:nvPr>
        </p:nvSpPr>
        <p:spPr>
          <a:xfrm>
            <a:off x="838200" y="2003755"/>
            <a:ext cx="5891151" cy="4351338"/>
          </a:xfrm>
        </p:spPr>
        <p:txBody>
          <a:bodyPr anchor="ctr">
            <a:normAutofit/>
          </a:bodyPr>
          <a:lstStyle/>
          <a:p>
            <a:pPr marL="0" indent="0">
              <a:buNone/>
            </a:pPr>
            <a:r>
              <a:rPr lang="nl-BE" sz="2000" dirty="0"/>
              <a:t>Op dinsdag zijn we met z’n tweeën verdergegaan aan het project. Eén van ons begon met het uitwerken van de pagina </a:t>
            </a:r>
            <a:r>
              <a:rPr lang="nl-BE" sz="2000" b="1" dirty="0"/>
              <a:t>‘Onze Keuken’</a:t>
            </a:r>
            <a:r>
              <a:rPr lang="nl-BE" sz="2000" dirty="0"/>
              <a:t>, waarbij vooral werd gewerkt aan de inhoud en de visuele opbouw. De andere persoon waagde zich aan het </a:t>
            </a:r>
            <a:r>
              <a:rPr lang="nl-BE" sz="2000" dirty="0" err="1"/>
              <a:t>JavaScript</a:t>
            </a:r>
            <a:r>
              <a:rPr lang="nl-BE" sz="2000" dirty="0"/>
              <a:t>-avontuur voor het reserveringsformulier, een taak die wat meer tijd en logica vereiste.</a:t>
            </a:r>
          </a:p>
          <a:p>
            <a:pPr marL="0" indent="0">
              <a:buNone/>
            </a:pPr>
            <a:r>
              <a:rPr lang="nl-BE" sz="2000" dirty="0"/>
              <a:t>Aan het einde van de dag hadden we allebei duidelijke vooruitgang geboekt. Dankzij deze stappen konden we de volgende dag met een frisse start en een duidelijke richting </a:t>
            </a:r>
            <a:r>
              <a:rPr lang="nl-BE" sz="2000" dirty="0" err="1"/>
              <a:t>verderwerken</a:t>
            </a:r>
            <a:r>
              <a:rPr lang="nl-BE" sz="2000" dirty="0"/>
              <a:t> aan het project.</a:t>
            </a:r>
          </a:p>
          <a:p>
            <a:pPr marL="0" indent="0">
              <a:buNone/>
            </a:pPr>
            <a:endParaRPr lang="nl-BE" sz="2000" dirty="0"/>
          </a:p>
        </p:txBody>
      </p:sp>
      <p:pic>
        <p:nvPicPr>
          <p:cNvPr id="9" name="Afbeelding 8">
            <a:extLst>
              <a:ext uri="{FF2B5EF4-FFF2-40B4-BE49-F238E27FC236}">
                <a16:creationId xmlns:a16="http://schemas.microsoft.com/office/drawing/2014/main" id="{D2B98FCD-0920-26F5-07EC-1CCB9BFD5FCD}"/>
              </a:ext>
            </a:extLst>
          </p:cNvPr>
          <p:cNvPicPr>
            <a:picLocks noChangeAspect="1"/>
          </p:cNvPicPr>
          <p:nvPr/>
        </p:nvPicPr>
        <p:blipFill>
          <a:blip r:embed="rId2"/>
          <a:stretch>
            <a:fillRect/>
          </a:stretch>
        </p:blipFill>
        <p:spPr>
          <a:xfrm>
            <a:off x="7548382" y="1870503"/>
            <a:ext cx="3226496" cy="4558306"/>
          </a:xfrm>
          <a:prstGeom prst="rect">
            <a:avLst/>
          </a:prstGeom>
        </p:spPr>
      </p:pic>
    </p:spTree>
    <p:extLst>
      <p:ext uri="{BB962C8B-B14F-4D97-AF65-F5344CB8AC3E}">
        <p14:creationId xmlns:p14="http://schemas.microsoft.com/office/powerpoint/2010/main" val="26461117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ntr" presetSubtype="16"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ircle(in)">
                                      <p:cBhvr>
                                        <p:cTn id="7"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4FBDD0F-BB68-9AA4-7B3F-477B70279351}"/>
              </a:ext>
            </a:extLst>
          </p:cNvPr>
          <p:cNvSpPr>
            <a:spLocks noGrp="1"/>
          </p:cNvSpPr>
          <p:nvPr>
            <p:ph type="title"/>
          </p:nvPr>
        </p:nvSpPr>
        <p:spPr/>
        <p:txBody>
          <a:bodyPr/>
          <a:lstStyle/>
          <a:p>
            <a:pPr algn="ctr"/>
            <a:r>
              <a:rPr lang="nl-BE" dirty="0"/>
              <a:t>Woensdag</a:t>
            </a:r>
            <a:br>
              <a:rPr lang="nl-BE" dirty="0"/>
            </a:br>
            <a:r>
              <a:rPr lang="nl-BE" dirty="0"/>
              <a:t>Foutje van de firma</a:t>
            </a:r>
          </a:p>
        </p:txBody>
      </p:sp>
      <p:sp>
        <p:nvSpPr>
          <p:cNvPr id="3" name="Tijdelijke aanduiding voor inhoud 2">
            <a:extLst>
              <a:ext uri="{FF2B5EF4-FFF2-40B4-BE49-F238E27FC236}">
                <a16:creationId xmlns:a16="http://schemas.microsoft.com/office/drawing/2014/main" id="{7D881B9B-72F8-0A9E-1192-FC572570AD67}"/>
              </a:ext>
            </a:extLst>
          </p:cNvPr>
          <p:cNvSpPr>
            <a:spLocks noGrp="1"/>
          </p:cNvSpPr>
          <p:nvPr>
            <p:ph idx="1"/>
          </p:nvPr>
        </p:nvSpPr>
        <p:spPr>
          <a:xfrm>
            <a:off x="4615542" y="1825625"/>
            <a:ext cx="6738257" cy="4351338"/>
          </a:xfrm>
        </p:spPr>
        <p:txBody>
          <a:bodyPr anchor="ctr">
            <a:normAutofit/>
          </a:bodyPr>
          <a:lstStyle/>
          <a:p>
            <a:pPr marL="0" indent="0">
              <a:buNone/>
            </a:pPr>
            <a:r>
              <a:rPr lang="nl-BE" sz="2000" dirty="0"/>
              <a:t>Op woensdag hebben we de pagina </a:t>
            </a:r>
            <a:r>
              <a:rPr lang="nl-BE" sz="2000" b="1" dirty="0"/>
              <a:t>‘Onze Keuken’</a:t>
            </a:r>
            <a:r>
              <a:rPr lang="nl-BE" sz="2000" dirty="0"/>
              <a:t> volledig afgerond. Alles was netjes opgebouwd en de lay-out en inhoud waren compleet uitgewerkt. Daarnaast merkten we dat er een foutje zat in het </a:t>
            </a:r>
            <a:r>
              <a:rPr lang="nl-BE" sz="2000" b="1" dirty="0"/>
              <a:t>contactformulier</a:t>
            </a:r>
            <a:r>
              <a:rPr lang="nl-BE" sz="2000" dirty="0"/>
              <a:t>: iemand had in de bestaande functie van het contactformulier </a:t>
            </a:r>
            <a:r>
              <a:rPr lang="nl-BE" sz="2000" dirty="0" err="1"/>
              <a:t>verdergewerkt</a:t>
            </a:r>
            <a:r>
              <a:rPr lang="nl-BE" sz="2000" dirty="0"/>
              <a:t>, in de veronderstelling dat deze ook voor het reserveringsformulier zou werken. Dit bleek echter een foute keuze. Daarom hebben we besloten om de </a:t>
            </a:r>
            <a:r>
              <a:rPr lang="nl-BE" sz="2000" dirty="0" err="1"/>
              <a:t>JavaScript</a:t>
            </a:r>
            <a:r>
              <a:rPr lang="nl-BE" sz="2000" dirty="0"/>
              <a:t> voor het reserveringsformulier volledig opnieuw te schrijven, zodat de validatie correct en overzichtelijk werd geïmplementeerd.</a:t>
            </a:r>
          </a:p>
        </p:txBody>
      </p:sp>
      <p:pic>
        <p:nvPicPr>
          <p:cNvPr id="5" name="Afbeelding 4" descr="Afbeelding met persoon, kleding, Menselijk gezicht, Elleboog&#10;&#10;Door AI gegenereerde inhoud is mogelijk onjuist.">
            <a:extLst>
              <a:ext uri="{FF2B5EF4-FFF2-40B4-BE49-F238E27FC236}">
                <a16:creationId xmlns:a16="http://schemas.microsoft.com/office/drawing/2014/main" id="{298A0209-3210-9C15-B424-6ACC2E2D64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5834" y="2569328"/>
            <a:ext cx="3988937" cy="2863932"/>
          </a:xfrm>
          <a:prstGeom prst="rect">
            <a:avLst/>
          </a:prstGeom>
        </p:spPr>
      </p:pic>
    </p:spTree>
    <p:extLst>
      <p:ext uri="{BB962C8B-B14F-4D97-AF65-F5344CB8AC3E}">
        <p14:creationId xmlns:p14="http://schemas.microsoft.com/office/powerpoint/2010/main" val="698693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83F000E-D637-22F0-D5C5-2EFBE658B22E}"/>
              </a:ext>
            </a:extLst>
          </p:cNvPr>
          <p:cNvSpPr>
            <a:spLocks noGrp="1"/>
          </p:cNvSpPr>
          <p:nvPr>
            <p:ph type="title"/>
          </p:nvPr>
        </p:nvSpPr>
        <p:spPr/>
        <p:txBody>
          <a:bodyPr/>
          <a:lstStyle/>
          <a:p>
            <a:pPr algn="ctr"/>
            <a:r>
              <a:rPr lang="nl-BE" dirty="0"/>
              <a:t>Donderdag</a:t>
            </a:r>
            <a:br>
              <a:rPr lang="nl-BE" dirty="0"/>
            </a:br>
            <a:r>
              <a:rPr lang="nl-BE" dirty="0"/>
              <a:t>Het einde</a:t>
            </a:r>
          </a:p>
        </p:txBody>
      </p:sp>
      <p:sp>
        <p:nvSpPr>
          <p:cNvPr id="3" name="Tijdelijke aanduiding voor inhoud 2">
            <a:extLst>
              <a:ext uri="{FF2B5EF4-FFF2-40B4-BE49-F238E27FC236}">
                <a16:creationId xmlns:a16="http://schemas.microsoft.com/office/drawing/2014/main" id="{A609AF3E-C814-9F91-FE57-EBCFDF6482AB}"/>
              </a:ext>
            </a:extLst>
          </p:cNvPr>
          <p:cNvSpPr>
            <a:spLocks noGrp="1"/>
          </p:cNvSpPr>
          <p:nvPr>
            <p:ph idx="1"/>
          </p:nvPr>
        </p:nvSpPr>
        <p:spPr>
          <a:xfrm>
            <a:off x="838200" y="1825625"/>
            <a:ext cx="10515600" cy="1222375"/>
          </a:xfrm>
        </p:spPr>
        <p:txBody>
          <a:bodyPr>
            <a:normAutofit/>
          </a:bodyPr>
          <a:lstStyle/>
          <a:p>
            <a:pPr marL="0" indent="0">
              <a:buNone/>
            </a:pPr>
            <a:r>
              <a:rPr lang="nl-BE" sz="2000" dirty="0"/>
              <a:t>Op donderdag zijn we opnieuw op school samengekomen om de laatste testen en verbeteringen aan onze website door te voeren. We hebben ervoor gezorgd dat alles correct werkte, de website online gezet en de voorbereidingen voor onze presentatie afgerond. Dankzij deze laatste inspanningen is de website nu volledig klaar voor gebruik.</a:t>
            </a:r>
          </a:p>
        </p:txBody>
      </p:sp>
      <p:pic>
        <p:nvPicPr>
          <p:cNvPr id="7" name="Afbeelding 6" descr="Afbeelding met persoon, kleding, overdekt, muur&#10;&#10;Door AI gegenereerde inhoud is mogelijk onjuist.">
            <a:extLst>
              <a:ext uri="{FF2B5EF4-FFF2-40B4-BE49-F238E27FC236}">
                <a16:creationId xmlns:a16="http://schemas.microsoft.com/office/drawing/2014/main" id="{C296C885-3288-DB2A-F6FE-6727EA5008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60914" y="3182937"/>
            <a:ext cx="6095998" cy="3402418"/>
          </a:xfrm>
          <a:prstGeom prst="rect">
            <a:avLst/>
          </a:prstGeom>
        </p:spPr>
      </p:pic>
    </p:spTree>
    <p:extLst>
      <p:ext uri="{BB962C8B-B14F-4D97-AF65-F5344CB8AC3E}">
        <p14:creationId xmlns:p14="http://schemas.microsoft.com/office/powerpoint/2010/main" val="1298428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775</Words>
  <Application>Microsoft Office PowerPoint</Application>
  <PresentationFormat>Breedbeeld</PresentationFormat>
  <Paragraphs>24</Paragraphs>
  <Slides>9</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9</vt:i4>
      </vt:variant>
    </vt:vector>
  </HeadingPairs>
  <TitlesOfParts>
    <vt:vector size="13" baseType="lpstr">
      <vt:lpstr>Aptos</vt:lpstr>
      <vt:lpstr>Aptos Display</vt:lpstr>
      <vt:lpstr>Arial</vt:lpstr>
      <vt:lpstr>Kantoorthema</vt:lpstr>
      <vt:lpstr>CASE</vt:lpstr>
      <vt:lpstr>Woensdag De start van de case</vt:lpstr>
      <vt:lpstr>Donderdag De beslissing, de wireframe </vt:lpstr>
      <vt:lpstr>Vrijdag aanpassing wirefarme, start van coderen</vt:lpstr>
      <vt:lpstr>Zaterdag &amp; Zondag Veranderen in een htmlmonkey</vt:lpstr>
      <vt:lpstr>Maandag Start validatie contact pagina</vt:lpstr>
      <vt:lpstr>Dinsdag Start javascript avontuur</vt:lpstr>
      <vt:lpstr>Woensdag Foutje van de firma</vt:lpstr>
      <vt:lpstr>Donderdag Het einde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FUW</dc:creator>
  <cp:lastModifiedBy>FUW</cp:lastModifiedBy>
  <cp:revision>1</cp:revision>
  <dcterms:created xsi:type="dcterms:W3CDTF">2025-12-11T12:37:11Z</dcterms:created>
  <dcterms:modified xsi:type="dcterms:W3CDTF">2025-12-11T12:37:18Z</dcterms:modified>
</cp:coreProperties>
</file>